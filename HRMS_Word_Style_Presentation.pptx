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0"/>
            <a:ext cx="8229600" cy="45720"/>
          </a:xfrm>
          <a:prstGeom prst="rect">
            <a:avLst/>
          </a:prstGeom>
          <a:solidFill>
            <a:srgbClr val="0056B3"/>
          </a:solidFill>
          <a:ln/>
        </p:spPr>
      </p:sp>
      <p:sp>
        <p:nvSpPr>
          <p:cNvPr id="3" name="Text 1"/>
          <p:cNvSpPr/>
          <p:nvPr/>
        </p:nvSpPr>
        <p:spPr>
          <a:xfrm>
            <a:off x="548640" y="1463040"/>
            <a:ext cx="8229600" cy="1463040"/>
          </a:xfrm>
          <a:prstGeom prst="rect">
            <a:avLst/>
          </a:prstGeom>
          <a:noFill/>
          <a:ln/>
        </p:spPr>
        <p:txBody>
          <a:bodyPr wrap="square" rtlCol="0" anchor="ctr"/>
          <a:lstStyle/>
          <a:p>
            <a:pPr indent="0" marL="0">
              <a:lnSpc>
                <a:spcPts val="3800"/>
              </a:lnSpc>
              <a:buNone/>
            </a:pPr>
            <a:r>
              <a:rPr lang="en-US" sz="3400" b="1" dirty="0">
                <a:solidFill>
                  <a:srgbClr val="111111"/>
                </a:solidFill>
                <a:latin typeface="Segoe UI" pitchFamily="34" charset="0"/>
                <a:ea typeface="Segoe UI" pitchFamily="34" charset="-122"/>
                <a:cs typeface="Segoe UI" pitchFamily="34" charset="-120"/>
              </a:rPr>
              <a:t>HUMAN RESOURCE MANAGEMENT SYSTEM</a:t>
            </a:r>
            <a:endParaRPr lang="en-US" sz="3400" dirty="0"/>
          </a:p>
        </p:txBody>
      </p:sp>
      <p:sp>
        <p:nvSpPr>
          <p:cNvPr id="4" name="Text 2"/>
          <p:cNvSpPr/>
          <p:nvPr/>
        </p:nvSpPr>
        <p:spPr>
          <a:xfrm>
            <a:off x="548640" y="3017520"/>
            <a:ext cx="8229600" cy="365760"/>
          </a:xfrm>
          <a:prstGeom prst="rect">
            <a:avLst/>
          </a:prstGeom>
          <a:noFill/>
          <a:ln/>
        </p:spPr>
        <p:txBody>
          <a:bodyPr wrap="square" rtlCol="0" anchor="ctr"/>
          <a:lstStyle/>
          <a:p>
            <a:pPr indent="0" marL="0">
              <a:buNone/>
            </a:pPr>
            <a:r>
              <a:rPr lang="en-US" sz="1600" b="1" dirty="0">
                <a:solidFill>
                  <a:srgbClr val="0056B3"/>
                </a:solidFill>
                <a:latin typeface="Segoe UI" pitchFamily="34" charset="0"/>
                <a:ea typeface="Segoe UI" pitchFamily="34" charset="-122"/>
                <a:cs typeface="Segoe UI" pitchFamily="34" charset="-120"/>
              </a:rPr>
              <a:t>Comprehensive Project Report &amp; System Architecture</a:t>
            </a:r>
            <a:endParaRPr lang="en-US" sz="1600" dirty="0"/>
          </a:p>
        </p:txBody>
      </p:sp>
      <p:sp>
        <p:nvSpPr>
          <p:cNvPr id="5" name="Shape 3"/>
          <p:cNvSpPr/>
          <p:nvPr/>
        </p:nvSpPr>
        <p:spPr>
          <a:xfrm>
            <a:off x="548640" y="3840480"/>
            <a:ext cx="8229600" cy="18288"/>
          </a:xfrm>
          <a:prstGeom prst="rect">
            <a:avLst/>
          </a:prstGeom>
          <a:solidFill>
            <a:srgbClr val="D1D1D6"/>
          </a:solidFill>
          <a:ln/>
        </p:spPr>
      </p:sp>
      <p:sp>
        <p:nvSpPr>
          <p:cNvPr id="6" name="Text 4"/>
          <p:cNvSpPr/>
          <p:nvPr/>
        </p:nvSpPr>
        <p:spPr>
          <a:xfrm>
            <a:off x="548640" y="4206240"/>
            <a:ext cx="8229600" cy="731520"/>
          </a:xfrm>
          <a:prstGeom prst="rect">
            <a:avLst/>
          </a:prstGeom>
          <a:noFill/>
          <a:ln/>
        </p:spPr>
        <p:txBody>
          <a:bodyPr wrap="square" rtlCol="0" anchor="ctr"/>
          <a:lstStyle/>
          <a:p>
            <a:pPr indent="0" marL="0">
              <a:lnSpc>
                <a:spcPts val="1600"/>
              </a:lnSpc>
              <a:buNone/>
            </a:pPr>
            <a:r>
              <a:rPr lang="en-US" sz="1100" dirty="0">
                <a:solidFill>
                  <a:srgbClr val="555555"/>
                </a:solidFill>
                <a:latin typeface="Segoe UI" pitchFamily="34" charset="0"/>
                <a:ea typeface="Segoe UI" pitchFamily="34" charset="-122"/>
                <a:cs typeface="Segoe UI" pitchFamily="34" charset="-120"/>
              </a:rPr>
              <a:t>Project Duration: 100 Days (March 12 - June 20, 2026)</a:t>
            </a:r>
            <a:endParaRPr lang="en-US" sz="1100" dirty="0"/>
          </a:p>
          <a:p>
            <a:pPr indent="0" marL="0">
              <a:lnSpc>
                <a:spcPts val="1600"/>
              </a:lnSpc>
              <a:buNone/>
            </a:pPr>
            <a:r>
              <a:rPr lang="en-US" sz="1100" dirty="0">
                <a:solidFill>
                  <a:srgbClr val="555555"/>
                </a:solidFill>
                <a:latin typeface="Segoe UI" pitchFamily="34" charset="0"/>
                <a:ea typeface="Segoe UI" pitchFamily="34" charset="-122"/>
                <a:cs typeface="Segoe UI" pitchFamily="34" charset="-120"/>
              </a:rPr>
              <a:t>Prepared by: Fullstack Development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INTRODUCTION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What is an HRMS &amp; Why Organizations Need It</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056B3"/>
                </a:solidFill>
                <a:latin typeface="Segoe UI" pitchFamily="34" charset="0"/>
                <a:ea typeface="Segoe UI" pitchFamily="34" charset="-122"/>
                <a:cs typeface="Segoe UI" pitchFamily="34" charset="-120"/>
              </a:rPr>
              <a:t>WHAT IS AN HRMS?</a:t>
            </a:r>
            <a:endParaRPr lang="en-US" sz="1400" dirty="0"/>
          </a:p>
        </p:txBody>
      </p:sp>
      <p:sp>
        <p:nvSpPr>
          <p:cNvPr id="7" name="Text 5"/>
          <p:cNvSpPr/>
          <p:nvPr/>
        </p:nvSpPr>
        <p:spPr>
          <a:xfrm>
            <a:off x="822960" y="2103120"/>
            <a:ext cx="7680960" cy="73152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A Human Resource Management System (HRMS) is an integrated software suite designed to automate, streamline, and optimize an organization’s daily human resource processes.</a:t>
            </a:r>
            <a:endParaRPr lang="en-US" sz="1200" dirty="0"/>
          </a:p>
        </p:txBody>
      </p:sp>
      <p:sp>
        <p:nvSpPr>
          <p:cNvPr id="8" name="Text 6"/>
          <p:cNvSpPr/>
          <p:nvPr/>
        </p:nvSpPr>
        <p:spPr>
          <a:xfrm>
            <a:off x="822960" y="3108960"/>
            <a:ext cx="7680960" cy="274320"/>
          </a:xfrm>
          <a:prstGeom prst="rect">
            <a:avLst/>
          </a:prstGeom>
          <a:noFill/>
          <a:ln/>
        </p:spPr>
        <p:txBody>
          <a:bodyPr wrap="square" rtlCol="0" anchor="ctr"/>
          <a:lstStyle/>
          <a:p>
            <a:pPr indent="0" marL="0">
              <a:buNone/>
            </a:pPr>
            <a:r>
              <a:rPr lang="en-US" sz="1400" b="1" dirty="0">
                <a:solidFill>
                  <a:srgbClr val="5A189A"/>
                </a:solidFill>
                <a:latin typeface="Segoe UI" pitchFamily="34" charset="0"/>
                <a:ea typeface="Segoe UI" pitchFamily="34" charset="-122"/>
                <a:cs typeface="Segoe UI" pitchFamily="34" charset="-120"/>
              </a:rPr>
              <a:t>WHY ORGANIZATIONS NEED IT</a:t>
            </a:r>
            <a:endParaRPr lang="en-US" sz="1400" dirty="0"/>
          </a:p>
        </p:txBody>
      </p:sp>
      <p:sp>
        <p:nvSpPr>
          <p:cNvPr id="9" name="Text 7"/>
          <p:cNvSpPr/>
          <p:nvPr/>
        </p:nvSpPr>
        <p:spPr>
          <a:xfrm>
            <a:off x="822960" y="3474720"/>
            <a:ext cx="7680960" cy="182880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As organizations grow, managing employee records, tracking attendance, calculating overtime, and processing payroll manually becomes highly error-prone, labor-intensive, and legally risky. An HRMS replaces disparate spreadsheets with a single source of truth, ensuring regulatory compliance, boosting administrative efficiency, and improving employee engagement.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INTRODUCTION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Core Problems Solved by the Application</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Time Theft &amp; Manual Log Inaccuracies: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Automates attendance tracking via a C# desktop agent that monitors lock/sleep states, eliminating manual check-in fraud.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Stale Shift Schedules &amp; Penalties: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Replaces rigid hours with a dynamic shift &amp; grace period engine that automatically calculates grace penalties.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Overtime Budget Creep: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Enforces a strict pre-5:00 PM pre-approval workflow for paid overtime, eliminating unapproved costs.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Inefficient Leave Tracking: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Replaces paper-based leave requests with automated entitlement deductions and approval queues.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INTRODUCTION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Project Scope &amp; Core Objectives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5A189A"/>
                </a:solidFill>
                <a:latin typeface="Segoe UI" pitchFamily="34" charset="0"/>
                <a:ea typeface="Segoe UI" pitchFamily="34" charset="-122"/>
                <a:cs typeface="Segoe UI" pitchFamily="34" charset="-120"/>
              </a:rPr>
              <a:t>1. Automate Attendance &amp; Break Telemetry: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Capture real-time employee states (Active, Away, Offline) directly from operating system events.
</a:t>
            </a:r>
            <a:pPr indent="0" marL="0">
              <a:lnSpc>
                <a:spcPts val="1600"/>
              </a:lnSpc>
              <a:buNone/>
            </a:pPr>
            <a:r>
              <a:rPr lang="en-US" sz="1300" b="1" dirty="0">
                <a:solidFill>
                  <a:srgbClr val="5A189A"/>
                </a:solidFill>
                <a:latin typeface="Segoe UI" pitchFamily="34" charset="0"/>
                <a:ea typeface="Segoe UI" pitchFamily="34" charset="-122"/>
                <a:cs typeface="Segoe UI" pitchFamily="34" charset="-120"/>
              </a:rPr>
              <a:t>2. Ensure Fair Performance Gamification: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Reward punctual employees and deduct points for late arrivals, providing a transparent dispute ticketing system.
</a:t>
            </a:r>
            <a:pPr indent="0" marL="0">
              <a:lnSpc>
                <a:spcPts val="1600"/>
              </a:lnSpc>
              <a:buNone/>
            </a:pPr>
            <a:r>
              <a:rPr lang="en-US" sz="1300" b="1" dirty="0">
                <a:solidFill>
                  <a:srgbClr val="5A189A"/>
                </a:solidFill>
                <a:latin typeface="Segoe UI" pitchFamily="34" charset="0"/>
                <a:ea typeface="Segoe UI" pitchFamily="34" charset="-122"/>
                <a:cs typeface="Segoe UI" pitchFamily="34" charset="-120"/>
              </a:rPr>
              <a:t>3. Provide Role-Based Portals: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Deliver tailored, secure dashboards for Employees, Managers, HR, and Administrators.
</a:t>
            </a:r>
            <a:pPr indent="0" marL="0">
              <a:lnSpc>
                <a:spcPts val="1600"/>
              </a:lnSpc>
              <a:buNone/>
            </a:pPr>
            <a:r>
              <a:rPr lang="en-US" sz="1300" b="1" dirty="0">
                <a:solidFill>
                  <a:srgbClr val="5A189A"/>
                </a:solidFill>
                <a:latin typeface="Segoe UI" pitchFamily="34" charset="0"/>
                <a:ea typeface="Segoe UI" pitchFamily="34" charset="-122"/>
                <a:cs typeface="Segoe UI" pitchFamily="34" charset="-120"/>
              </a:rPr>
              <a:t>4. Reduce HR Administrative Burden: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Automate leave balances, overtime calculations, and shift transitions without manual intervention.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DESIGN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System Architecture Overview</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056B3"/>
                </a:solidFill>
                <a:latin typeface="Segoe UI" pitchFamily="34" charset="0"/>
                <a:ea typeface="Segoe UI" pitchFamily="34" charset="-122"/>
                <a:cs typeface="Segoe UI" pitchFamily="34" charset="-120"/>
              </a:rPr>
              <a:t>DECOUPLED CLIENT-SERVER DESIGN</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The application follows a Decoupled Client-Server Architecture utilizing a RESTful API. It separates user interaction from core business logic and relational storage to ensure high scalability and security.</a:t>
            </a:r>
            <a:endParaRPr lang="en-US" sz="1200" dirty="0"/>
          </a:p>
        </p:txBody>
      </p:sp>
      <p:sp>
        <p:nvSpPr>
          <p:cNvPr id="8" name="Text 6"/>
          <p:cNvSpPr/>
          <p:nvPr/>
        </p:nvSpPr>
        <p:spPr>
          <a:xfrm>
            <a:off x="822960" y="3291840"/>
            <a:ext cx="7680960" cy="274320"/>
          </a:xfrm>
          <a:prstGeom prst="rect">
            <a:avLst/>
          </a:prstGeom>
          <a:noFill/>
          <a:ln/>
        </p:spPr>
        <p:txBody>
          <a:bodyPr wrap="square" rtlCol="0" anchor="ctr"/>
          <a:lstStyle/>
          <a:p>
            <a:pPr indent="0" marL="0">
              <a:buNone/>
            </a:pPr>
            <a:r>
              <a:rPr lang="en-US" sz="1400" b="1" dirty="0">
                <a:solidFill>
                  <a:srgbClr val="5A189A"/>
                </a:solidFill>
                <a:latin typeface="Segoe UI" pitchFamily="34" charset="0"/>
                <a:ea typeface="Segoe UI" pitchFamily="34" charset="-122"/>
                <a:cs typeface="Segoe UI" pitchFamily="34" charset="-120"/>
              </a:rPr>
              <a:t>INTEGRATION LAYER</a:t>
            </a:r>
            <a:endParaRPr lang="en-US" sz="1400" dirty="0"/>
          </a:p>
        </p:txBody>
      </p:sp>
      <p:sp>
        <p:nvSpPr>
          <p:cNvPr id="9" name="Text 7"/>
          <p:cNvSpPr/>
          <p:nvPr/>
        </p:nvSpPr>
        <p:spPr>
          <a:xfrm>
            <a:off x="822960" y="3657600"/>
            <a:ext cx="7680960" cy="1645920"/>
          </a:xfrm>
          <a:prstGeom prst="rect">
            <a:avLst/>
          </a:prstGeom>
          <a:noFill/>
          <a:ln/>
        </p:spPr>
        <p:txBody>
          <a:bodyPr wrap="square" rtlCol="0" anchor="ctr"/>
          <a:lstStyle/>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Google Sheets API: Synchronizes attendance and status feeds into a master spreadsheet.</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MS Teams Webhooks: Delivers real-time notifications to team channels.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Windows API Integration: Intercepts OS locking and sleep events in the desktop agent.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DESIGN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Component Breakdown &amp; Responsibilities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645920"/>
            <a:ext cx="1920240" cy="4023360"/>
          </a:xfrm>
          <a:prstGeom prst="rect">
            <a:avLst/>
          </a:prstGeom>
          <a:solidFill>
            <a:srgbClr val="F2F2F7"/>
          </a:solidFill>
          <a:ln w="12700">
            <a:solidFill>
              <a:srgbClr val="D1D1D6"/>
            </a:solidFill>
            <a:prstDash val="solid"/>
          </a:ln>
        </p:spPr>
      </p:sp>
      <p:sp>
        <p:nvSpPr>
          <p:cNvPr id="6" name="Shape 4"/>
          <p:cNvSpPr/>
          <p:nvPr/>
        </p:nvSpPr>
        <p:spPr>
          <a:xfrm>
            <a:off x="548640" y="1645920"/>
            <a:ext cx="1920240" cy="73152"/>
          </a:xfrm>
          <a:prstGeom prst="rect">
            <a:avLst/>
          </a:prstGeom>
          <a:solidFill>
            <a:srgbClr val="0056B3"/>
          </a:solidFill>
          <a:ln/>
        </p:spPr>
      </p:sp>
      <p:sp>
        <p:nvSpPr>
          <p:cNvPr id="7" name="Text 5"/>
          <p:cNvSpPr/>
          <p:nvPr/>
        </p:nvSpPr>
        <p:spPr>
          <a:xfrm>
            <a:off x="685800" y="1920240"/>
            <a:ext cx="1645920" cy="457200"/>
          </a:xfrm>
          <a:prstGeom prst="rect">
            <a:avLst/>
          </a:prstGeom>
          <a:noFill/>
          <a:ln/>
        </p:spPr>
        <p:txBody>
          <a:bodyPr wrap="square" rtlCol="0" anchor="ctr"/>
          <a:lstStyle/>
          <a:p>
            <a:pPr indent="0" marL="0">
              <a:buNone/>
            </a:pPr>
            <a:r>
              <a:rPr lang="en-US" sz="1300" b="1" dirty="0">
                <a:solidFill>
                  <a:srgbClr val="0056B3"/>
                </a:solidFill>
                <a:latin typeface="Segoe UI" pitchFamily="34" charset="0"/>
                <a:ea typeface="Segoe UI" pitchFamily="34" charset="-122"/>
                <a:cs typeface="Segoe UI" pitchFamily="34" charset="-120"/>
              </a:rPr>
              <a:t>React Frontend</a:t>
            </a:r>
            <a:endParaRPr lang="en-US" sz="1300" dirty="0"/>
          </a:p>
        </p:txBody>
      </p:sp>
      <p:sp>
        <p:nvSpPr>
          <p:cNvPr id="8" name="Text 6"/>
          <p:cNvSpPr/>
          <p:nvPr/>
        </p:nvSpPr>
        <p:spPr>
          <a:xfrm>
            <a:off x="685800" y="2468880"/>
            <a:ext cx="1645920" cy="2926080"/>
          </a:xfrm>
          <a:prstGeom prst="rect">
            <a:avLst/>
          </a:prstGeom>
          <a:noFill/>
          <a:ln/>
        </p:spPr>
        <p:txBody>
          <a:bodyPr wrap="square" rtlCol="0" anchor="ctr"/>
          <a:lstStyle/>
          <a:p>
            <a:pPr indent="0" marL="0">
              <a:lnSpc>
                <a:spcPts val="1500"/>
              </a:lnSpc>
              <a:buNone/>
            </a:pPr>
            <a:r>
              <a:rPr lang="en-US" sz="1050" dirty="0">
                <a:solidFill>
                  <a:srgbClr val="555555"/>
                </a:solidFill>
                <a:latin typeface="Segoe UI" pitchFamily="34" charset="0"/>
                <a:ea typeface="Segoe UI" pitchFamily="34" charset="-122"/>
                <a:cs typeface="Segoe UI" pitchFamily="34" charset="-120"/>
              </a:rPr>
              <a:t>Single-page web portal for leave requests, calendars, tasks, and configurations.</a:t>
            </a:r>
            <a:endParaRPr lang="en-US" sz="1050" dirty="0"/>
          </a:p>
        </p:txBody>
      </p:sp>
      <p:sp>
        <p:nvSpPr>
          <p:cNvPr id="9" name="Shape 7"/>
          <p:cNvSpPr/>
          <p:nvPr/>
        </p:nvSpPr>
        <p:spPr>
          <a:xfrm>
            <a:off x="2651760" y="1645920"/>
            <a:ext cx="1920240" cy="4023360"/>
          </a:xfrm>
          <a:prstGeom prst="rect">
            <a:avLst/>
          </a:prstGeom>
          <a:solidFill>
            <a:srgbClr val="F2F2F7"/>
          </a:solidFill>
          <a:ln w="12700">
            <a:solidFill>
              <a:srgbClr val="D1D1D6"/>
            </a:solidFill>
            <a:prstDash val="solid"/>
          </a:ln>
        </p:spPr>
      </p:sp>
      <p:sp>
        <p:nvSpPr>
          <p:cNvPr id="10" name="Shape 8"/>
          <p:cNvSpPr/>
          <p:nvPr/>
        </p:nvSpPr>
        <p:spPr>
          <a:xfrm>
            <a:off x="2651760" y="1645920"/>
            <a:ext cx="1920240" cy="73152"/>
          </a:xfrm>
          <a:prstGeom prst="rect">
            <a:avLst/>
          </a:prstGeom>
          <a:solidFill>
            <a:srgbClr val="5A189A"/>
          </a:solidFill>
          <a:ln/>
        </p:spPr>
      </p:sp>
      <p:sp>
        <p:nvSpPr>
          <p:cNvPr id="11" name="Text 9"/>
          <p:cNvSpPr/>
          <p:nvPr/>
        </p:nvSpPr>
        <p:spPr>
          <a:xfrm>
            <a:off x="2788920" y="1920240"/>
            <a:ext cx="1645920" cy="457200"/>
          </a:xfrm>
          <a:prstGeom prst="rect">
            <a:avLst/>
          </a:prstGeom>
          <a:noFill/>
          <a:ln/>
        </p:spPr>
        <p:txBody>
          <a:bodyPr wrap="square" rtlCol="0" anchor="ctr"/>
          <a:lstStyle/>
          <a:p>
            <a:pPr indent="0" marL="0">
              <a:buNone/>
            </a:pPr>
            <a:r>
              <a:rPr lang="en-US" sz="1300" b="1" dirty="0">
                <a:solidFill>
                  <a:srgbClr val="5A189A"/>
                </a:solidFill>
                <a:latin typeface="Segoe UI" pitchFamily="34" charset="0"/>
                <a:ea typeface="Segoe UI" pitchFamily="34" charset="-122"/>
                <a:cs typeface="Segoe UI" pitchFamily="34" charset="-120"/>
              </a:rPr>
              <a:t>C# Desktop Agent</a:t>
            </a:r>
            <a:endParaRPr lang="en-US" sz="1300" dirty="0"/>
          </a:p>
        </p:txBody>
      </p:sp>
      <p:sp>
        <p:nvSpPr>
          <p:cNvPr id="12" name="Text 10"/>
          <p:cNvSpPr/>
          <p:nvPr/>
        </p:nvSpPr>
        <p:spPr>
          <a:xfrm>
            <a:off x="2788920" y="2468880"/>
            <a:ext cx="1645920" cy="2926080"/>
          </a:xfrm>
          <a:prstGeom prst="rect">
            <a:avLst/>
          </a:prstGeom>
          <a:noFill/>
          <a:ln/>
        </p:spPr>
        <p:txBody>
          <a:bodyPr wrap="square" rtlCol="0" anchor="ctr"/>
          <a:lstStyle/>
          <a:p>
            <a:pPr indent="0" marL="0">
              <a:lnSpc>
                <a:spcPts val="1500"/>
              </a:lnSpc>
              <a:buNone/>
            </a:pPr>
            <a:r>
              <a:rPr lang="en-US" sz="1050" dirty="0">
                <a:solidFill>
                  <a:srgbClr val="555555"/>
                </a:solidFill>
                <a:latin typeface="Segoe UI" pitchFamily="34" charset="0"/>
                <a:ea typeface="Segoe UI" pitchFamily="34" charset="-122"/>
                <a:cs typeface="Segoe UI" pitchFamily="34" charset="-120"/>
              </a:rPr>
              <a:t>Background service monitoring OS events. Emits lock telemetry and displays break/checkout reminders.</a:t>
            </a:r>
            <a:endParaRPr lang="en-US" sz="1050" dirty="0"/>
          </a:p>
        </p:txBody>
      </p:sp>
      <p:sp>
        <p:nvSpPr>
          <p:cNvPr id="13" name="Shape 11"/>
          <p:cNvSpPr/>
          <p:nvPr/>
        </p:nvSpPr>
        <p:spPr>
          <a:xfrm>
            <a:off x="4754880" y="1645920"/>
            <a:ext cx="1920240" cy="4023360"/>
          </a:xfrm>
          <a:prstGeom prst="rect">
            <a:avLst/>
          </a:prstGeom>
          <a:solidFill>
            <a:srgbClr val="F2F2F7"/>
          </a:solidFill>
          <a:ln w="12700">
            <a:solidFill>
              <a:srgbClr val="D1D1D6"/>
            </a:solidFill>
            <a:prstDash val="solid"/>
          </a:ln>
        </p:spPr>
      </p:sp>
      <p:sp>
        <p:nvSpPr>
          <p:cNvPr id="14" name="Shape 12"/>
          <p:cNvSpPr/>
          <p:nvPr/>
        </p:nvSpPr>
        <p:spPr>
          <a:xfrm>
            <a:off x="4754880" y="1645920"/>
            <a:ext cx="1920240" cy="73152"/>
          </a:xfrm>
          <a:prstGeom prst="rect">
            <a:avLst/>
          </a:prstGeom>
          <a:solidFill>
            <a:srgbClr val="1E7E34"/>
          </a:solidFill>
          <a:ln/>
        </p:spPr>
      </p:sp>
      <p:sp>
        <p:nvSpPr>
          <p:cNvPr id="15" name="Text 13"/>
          <p:cNvSpPr/>
          <p:nvPr/>
        </p:nvSpPr>
        <p:spPr>
          <a:xfrm>
            <a:off x="4892040" y="1920240"/>
            <a:ext cx="1645920" cy="457200"/>
          </a:xfrm>
          <a:prstGeom prst="rect">
            <a:avLst/>
          </a:prstGeom>
          <a:noFill/>
          <a:ln/>
        </p:spPr>
        <p:txBody>
          <a:bodyPr wrap="square" rtlCol="0" anchor="ctr"/>
          <a:lstStyle/>
          <a:p>
            <a:pPr indent="0" marL="0">
              <a:buNone/>
            </a:pPr>
            <a:r>
              <a:rPr lang="en-US" sz="1300" b="1" dirty="0">
                <a:solidFill>
                  <a:srgbClr val="1E7E34"/>
                </a:solidFill>
                <a:latin typeface="Segoe UI" pitchFamily="34" charset="0"/>
                <a:ea typeface="Segoe UI" pitchFamily="34" charset="-122"/>
                <a:cs typeface="Segoe UI" pitchFamily="34" charset="-120"/>
              </a:rPr>
              <a:t>Express.js API</a:t>
            </a:r>
            <a:endParaRPr lang="en-US" sz="1300" dirty="0"/>
          </a:p>
        </p:txBody>
      </p:sp>
      <p:sp>
        <p:nvSpPr>
          <p:cNvPr id="16" name="Text 14"/>
          <p:cNvSpPr/>
          <p:nvPr/>
        </p:nvSpPr>
        <p:spPr>
          <a:xfrm>
            <a:off x="4892040" y="2468880"/>
            <a:ext cx="1645920" cy="2926080"/>
          </a:xfrm>
          <a:prstGeom prst="rect">
            <a:avLst/>
          </a:prstGeom>
          <a:noFill/>
          <a:ln/>
        </p:spPr>
        <p:txBody>
          <a:bodyPr wrap="square" rtlCol="0" anchor="ctr"/>
          <a:lstStyle/>
          <a:p>
            <a:pPr indent="0" marL="0">
              <a:lnSpc>
                <a:spcPts val="1500"/>
              </a:lnSpc>
              <a:buNone/>
            </a:pPr>
            <a:r>
              <a:rPr lang="en-US" sz="1050" dirty="0">
                <a:solidFill>
                  <a:srgbClr val="555555"/>
                </a:solidFill>
                <a:latin typeface="Segoe UI" pitchFamily="34" charset="0"/>
                <a:ea typeface="Segoe UI" pitchFamily="34" charset="-122"/>
                <a:cs typeface="Segoe UI" pitchFamily="34" charset="-120"/>
              </a:rPr>
              <a:t>Handles request routing, JWT session verification, shift validations, and payroll math.</a:t>
            </a:r>
            <a:endParaRPr lang="en-US" sz="1050" dirty="0"/>
          </a:p>
        </p:txBody>
      </p:sp>
      <p:sp>
        <p:nvSpPr>
          <p:cNvPr id="17" name="Shape 15"/>
          <p:cNvSpPr/>
          <p:nvPr/>
        </p:nvSpPr>
        <p:spPr>
          <a:xfrm>
            <a:off x="6858000" y="1645920"/>
            <a:ext cx="1920240" cy="4023360"/>
          </a:xfrm>
          <a:prstGeom prst="rect">
            <a:avLst/>
          </a:prstGeom>
          <a:solidFill>
            <a:srgbClr val="F2F2F7"/>
          </a:solidFill>
          <a:ln w="12700">
            <a:solidFill>
              <a:srgbClr val="D1D1D6"/>
            </a:solidFill>
            <a:prstDash val="solid"/>
          </a:ln>
        </p:spPr>
      </p:sp>
      <p:sp>
        <p:nvSpPr>
          <p:cNvPr id="18" name="Shape 16"/>
          <p:cNvSpPr/>
          <p:nvPr/>
        </p:nvSpPr>
        <p:spPr>
          <a:xfrm>
            <a:off x="6858000" y="1645920"/>
            <a:ext cx="1920240" cy="73152"/>
          </a:xfrm>
          <a:prstGeom prst="rect">
            <a:avLst/>
          </a:prstGeom>
          <a:solidFill>
            <a:srgbClr val="111111"/>
          </a:solidFill>
          <a:ln/>
        </p:spPr>
      </p:sp>
      <p:sp>
        <p:nvSpPr>
          <p:cNvPr id="19" name="Text 17"/>
          <p:cNvSpPr/>
          <p:nvPr/>
        </p:nvSpPr>
        <p:spPr>
          <a:xfrm>
            <a:off x="6995160" y="1920240"/>
            <a:ext cx="1645920" cy="457200"/>
          </a:xfrm>
          <a:prstGeom prst="rect">
            <a:avLst/>
          </a:prstGeom>
          <a:noFill/>
          <a:ln/>
        </p:spPr>
        <p:txBody>
          <a:bodyPr wrap="square" rtlCol="0" anchor="ctr"/>
          <a:lstStyle/>
          <a:p>
            <a:pPr indent="0" marL="0">
              <a:buNone/>
            </a:pPr>
            <a:r>
              <a:rPr lang="en-US" sz="1300" b="1" dirty="0">
                <a:solidFill>
                  <a:srgbClr val="111111"/>
                </a:solidFill>
                <a:latin typeface="Segoe UI" pitchFamily="34" charset="0"/>
                <a:ea typeface="Segoe UI" pitchFamily="34" charset="-122"/>
                <a:cs typeface="Segoe UI" pitchFamily="34" charset="-120"/>
              </a:rPr>
              <a:t>PostgreSQL DB</a:t>
            </a:r>
            <a:endParaRPr lang="en-US" sz="1300" dirty="0"/>
          </a:p>
        </p:txBody>
      </p:sp>
      <p:sp>
        <p:nvSpPr>
          <p:cNvPr id="20" name="Text 18"/>
          <p:cNvSpPr/>
          <p:nvPr/>
        </p:nvSpPr>
        <p:spPr>
          <a:xfrm>
            <a:off x="6995160" y="2468880"/>
            <a:ext cx="1645920" cy="2926080"/>
          </a:xfrm>
          <a:prstGeom prst="rect">
            <a:avLst/>
          </a:prstGeom>
          <a:noFill/>
          <a:ln/>
        </p:spPr>
        <p:txBody>
          <a:bodyPr wrap="square" rtlCol="0" anchor="ctr"/>
          <a:lstStyle/>
          <a:p>
            <a:pPr indent="0" marL="0">
              <a:lnSpc>
                <a:spcPts val="1500"/>
              </a:lnSpc>
              <a:buNone/>
            </a:pPr>
            <a:r>
              <a:rPr lang="en-US" sz="1050" dirty="0">
                <a:solidFill>
                  <a:srgbClr val="555555"/>
                </a:solidFill>
                <a:latin typeface="Segoe UI" pitchFamily="34" charset="0"/>
                <a:ea typeface="Segoe UI" pitchFamily="34" charset="-122"/>
                <a:cs typeface="Segoe UI" pitchFamily="34" charset="-120"/>
              </a:rPr>
              <a:t>Relational storage for employees, shifts, leaves, and logs, managed via Prisma ORM.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DESIGN</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End-to-End Session Data Flow</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250" b="1" dirty="0">
                <a:solidFill>
                  <a:srgbClr val="0056B3"/>
                </a:solidFill>
                <a:latin typeface="Segoe UI" pitchFamily="34" charset="0"/>
                <a:ea typeface="Segoe UI" pitchFamily="34" charset="-122"/>
                <a:cs typeface="Segoe UI" pitchFamily="34" charset="-120"/>
              </a:rPr>
              <a:t>1. User Authentication: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User submits credentials -&gt; verified by Express API -&gt; returns JWT Access/Refresh tokens.
</a:t>
            </a:r>
            <a:pPr indent="0" marL="0">
              <a:lnSpc>
                <a:spcPts val="1500"/>
              </a:lnSpc>
              <a:buNone/>
            </a:pPr>
            <a:r>
              <a:rPr lang="en-US" sz="1250" b="1" dirty="0">
                <a:solidFill>
                  <a:srgbClr val="0056B3"/>
                </a:solidFill>
                <a:latin typeface="Segoe UI" pitchFamily="34" charset="0"/>
                <a:ea typeface="Segoe UI" pitchFamily="34" charset="-122"/>
                <a:cs typeface="Segoe UI" pitchFamily="34" charset="-120"/>
              </a:rPr>
              <a:t>2. Session Polling: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Desktop agent polls /api/attendance/today every 60s to sync active shift and break records.
</a:t>
            </a:r>
            <a:pPr indent="0" marL="0">
              <a:lnSpc>
                <a:spcPts val="1500"/>
              </a:lnSpc>
              <a:buNone/>
            </a:pPr>
            <a:r>
              <a:rPr lang="en-US" sz="1250" b="1" dirty="0">
                <a:solidFill>
                  <a:srgbClr val="0056B3"/>
                </a:solidFill>
                <a:latin typeface="Segoe UI" pitchFamily="34" charset="0"/>
                <a:ea typeface="Segoe UI" pitchFamily="34" charset="-122"/>
                <a:cs typeface="Segoe UI" pitchFamily="34" charset="-120"/>
              </a:rPr>
              <a:t>3. Telemetry Tracking: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OS lock/unlock events are captured and POSTed to /api/attendance/desktop-event to log breaks.
</a:t>
            </a:r>
            <a:pPr indent="0" marL="0">
              <a:lnSpc>
                <a:spcPts val="1500"/>
              </a:lnSpc>
              <a:buNone/>
            </a:pPr>
            <a:r>
              <a:rPr lang="en-US" sz="1250" b="1" dirty="0">
                <a:solidFill>
                  <a:srgbClr val="0056B3"/>
                </a:solidFill>
                <a:latin typeface="Segoe UI" pitchFamily="34" charset="0"/>
                <a:ea typeface="Segoe UI" pitchFamily="34" charset="-122"/>
                <a:cs typeface="Segoe UI" pitchFamily="34" charset="-120"/>
              </a:rPr>
              <a:t>4. Concluding Session: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User clicks check-out -&gt; prompts for daily status update -&gt; saves todaysUpdate and clears tokens.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TECHNOLOGY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Core Technology Stack</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TypeScript &amp; JavaScript: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Provides type-safe programming across both frontend (React) and backend (Express) layers.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C# (.NET 8.0):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Used for the desktop agent to gain native access to Windows APIs and system tray features.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React.js (Vite):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Powers the web portal, utilizing component-based rendering for a responsive user interface.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PostgreSQL &amp; Prisma ORM: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Ensures ACID-compliant relational data storage, with Prisma providing type-safe queries.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TECHNOLOGY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Database &amp; Relational Schema</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5A189A"/>
                </a:solidFill>
                <a:latin typeface="Segoe UI" pitchFamily="34" charset="0"/>
                <a:ea typeface="Segoe UI" pitchFamily="34" charset="-122"/>
                <a:cs typeface="Segoe UI" pitchFamily="34" charset="-120"/>
              </a:rPr>
              <a:t>RELATIONAL DATABASE (POSTGRESQL)</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PostgreSQL serves as the primary data tier, maintaining strict data integrity, foreign key constraints, and transactional safety. Ideal for handling relational links between Employees, Shifts, Attendance, and Leaves.</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0056B3"/>
                </a:solidFill>
                <a:latin typeface="Segoe UI" pitchFamily="34" charset="0"/>
                <a:ea typeface="Segoe UI" pitchFamily="34" charset="-122"/>
                <a:cs typeface="Segoe UI" pitchFamily="34" charset="-120"/>
              </a:rPr>
              <a:t>PRISMA ORM BENEFIT</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Type-Safe Queries: Automatically generates TypeScript types matching the database schema.</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Migrations: Manages schema changes declaratively through SQL generation.</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Relation Joins: Simplifies complex queries, such as counting active employees in a department.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TECHNOLOGY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Frontend Libraries &amp; Styling System</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056B3"/>
                </a:solidFill>
                <a:latin typeface="Segoe UI" pitchFamily="34" charset="0"/>
                <a:ea typeface="Segoe UI" pitchFamily="34" charset="-122"/>
                <a:cs typeface="Segoe UI" pitchFamily="34" charset="-120"/>
              </a:rPr>
              <a:t>TAILWIND CSS &amp; DESIGN SYSTEM</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Utilizes utility-first styling for highly responsive layouts. Global tokens (such as accent gradients, light card backgrounds, and rounded corners) ensure a clean visual theme across all pages.</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5A189A"/>
                </a:solidFill>
                <a:latin typeface="Segoe UI" pitchFamily="34" charset="0"/>
                <a:ea typeface="Segoe UI" pitchFamily="34" charset="-122"/>
                <a:cs typeface="Segoe UI" pitchFamily="34" charset="-120"/>
              </a:rPr>
              <a:t>CORE FRONTEND UTILITIES</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Recharts: Renders responsive data charts for dashboard statistics and trends.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Lucide React: Provides clean, customizable vector icons for sidebar navigation and status indicators.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Vite: Serves as the rapid build and hot-reloading tool during local development.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TECHNOLOGY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Date Utilities &amp; Integrations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1E7E34"/>
                </a:solidFill>
                <a:latin typeface="Segoe UI" pitchFamily="34" charset="0"/>
                <a:ea typeface="Segoe UI" pitchFamily="34" charset="-122"/>
                <a:cs typeface="Segoe UI" pitchFamily="34" charset="-120"/>
              </a:rPr>
              <a:t>TIMEZONE CALIBRATION (DATE-FNS-TZ)</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Enforces Asia/Kolkata timezone mapping across the web client, C# agent, and Express API. This prevents date-shifting bugs and ensures that late penalties and timelines are calculated accurately.</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0056B3"/>
                </a:solidFill>
                <a:latin typeface="Segoe UI" pitchFamily="34" charset="0"/>
                <a:ea typeface="Segoe UI" pitchFamily="34" charset="-122"/>
                <a:cs typeface="Segoe UI" pitchFamily="34" charset="-120"/>
              </a:rPr>
              <a:t>EXTERNAL CONNECTORS</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Microsoft Teams Webhooks: Automatically posts alert notifications (e.g. pending leave requests) to designated team channels.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Google Sheets / xlsx: Compiles and synchronizes attendance history, point ledgers, and status logs into the master project workbook.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OPERATIONS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Role-Based Access Control (RBAC) Overview</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056B3"/>
                </a:solidFill>
                <a:latin typeface="Segoe UI" pitchFamily="34" charset="0"/>
                <a:ea typeface="Segoe UI" pitchFamily="34" charset="-122"/>
                <a:cs typeface="Segoe UI" pitchFamily="34" charset="-120"/>
              </a:rPr>
              <a:t>ROLE-BASED PANEL ARCHITECTURE</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To secure sensitive data and simplify the user experience, the system enforces strict Role-Based Access Control. Each user role is restricted to a specific set of dashboards, actions, and API routes.</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5A189A"/>
                </a:solidFill>
                <a:latin typeface="Segoe UI" pitchFamily="34" charset="0"/>
                <a:ea typeface="Segoe UI" pitchFamily="34" charset="-122"/>
                <a:cs typeface="Segoe UI" pitchFamily="34" charset="-120"/>
              </a:rPr>
              <a:t>ROLE DEFINITIONS</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Admin: Full access to shift configurations, employee details, and database backups.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HR: Access to payroll calculations, incentive management, and dispute queues.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Manager: Access to team attendance, task assignments, and approval workflows.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Employee: Access to personal attendance logs, leave balances, and points history.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OPERATIONS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Employee Panel Features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Personal Workday Progress: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Renders a visual timeline showing check-in/out times, break durations, and remaining shift hours.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Leave Application Portal: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Allows employees to apply for time off and view their remaining casual, sick, and paid leave balances.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Points Ledger &amp; Disputes: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Displays points earned for punctuality and task completion, allowing users to dispute any late-arrival penalties.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OPERATIONS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Manager Panel Features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5A189A"/>
                </a:solidFill>
                <a:latin typeface="Segoe UI" pitchFamily="34" charset="0"/>
                <a:ea typeface="Segoe UI" pitchFamily="34" charset="-122"/>
                <a:cs typeface="Segoe UI" pitchFamily="34" charset="-120"/>
              </a:rPr>
              <a:t>• Team Attendance Directory: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Provides a real-time list of team members showing who is currently checked in, on break, away, or offline.
</a:t>
            </a:r>
            <a:pPr indent="0" marL="0">
              <a:lnSpc>
                <a:spcPts val="1600"/>
              </a:lnSpc>
              <a:buNone/>
            </a:pPr>
            <a:r>
              <a:rPr lang="en-US" sz="1300" b="1" dirty="0">
                <a:solidFill>
                  <a:srgbClr val="5A189A"/>
                </a:solidFill>
                <a:latin typeface="Segoe UI" pitchFamily="34" charset="0"/>
                <a:ea typeface="Segoe UI" pitchFamily="34" charset="-122"/>
                <a:cs typeface="Segoe UI" pitchFamily="34" charset="-120"/>
              </a:rPr>
              <a:t>• Approval Workflows: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Features a pending queue to review and approve leave applications and overtime pre-approvals.
</a:t>
            </a:r>
            <a:pPr indent="0" marL="0">
              <a:lnSpc>
                <a:spcPts val="1600"/>
              </a:lnSpc>
              <a:buNone/>
            </a:pPr>
            <a:r>
              <a:rPr lang="en-US" sz="1300" b="1" dirty="0">
                <a:solidFill>
                  <a:srgbClr val="5A189A"/>
                </a:solidFill>
                <a:latin typeface="Segoe UI" pitchFamily="34" charset="0"/>
                <a:ea typeface="Segoe UI" pitchFamily="34" charset="-122"/>
                <a:cs typeface="Segoe UI" pitchFamily="34" charset="-120"/>
              </a:rPr>
              <a:t>• Task Console: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Allows managers to create, assign, and monitor tasks for their team members, with automatic points distribution.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OPERATIONS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HR &amp; Administrator Panel Features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1E7E34"/>
                </a:solidFill>
                <a:latin typeface="Segoe UI" pitchFamily="34" charset="0"/>
                <a:ea typeface="Segoe UI" pitchFamily="34" charset="-122"/>
                <a:cs typeface="Segoe UI" pitchFamily="34" charset="-120"/>
              </a:rPr>
              <a:t>• Dynamic Shift Management (Admin Only):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Create and edit shift profiles with custom grace periods, required hours, and break windows.
</a:t>
            </a:r>
            <a:pPr indent="0" marL="0">
              <a:lnSpc>
                <a:spcPts val="1600"/>
              </a:lnSpc>
              <a:buNone/>
            </a:pPr>
            <a:r>
              <a:rPr lang="en-US" sz="1300" b="1" dirty="0">
                <a:solidFill>
                  <a:srgbClr val="1E7E34"/>
                </a:solidFill>
                <a:latin typeface="Segoe UI" pitchFamily="34" charset="0"/>
                <a:ea typeface="Segoe UI" pitchFamily="34" charset="-122"/>
                <a:cs typeface="Segoe UI" pitchFamily="34" charset="-120"/>
              </a:rPr>
              <a:t>• Payroll &amp; Performance Incentives (HR Only):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Calculate monthly salaries based on attendance, overtime, and distribute performance incentives.
</a:t>
            </a:r>
            <a:pPr indent="0" marL="0">
              <a:lnSpc>
                <a:spcPts val="1600"/>
              </a:lnSpc>
              <a:buNone/>
            </a:pPr>
            <a:r>
              <a:rPr lang="en-US" sz="1300" b="1" dirty="0">
                <a:solidFill>
                  <a:srgbClr val="1E7E34"/>
                </a:solidFill>
                <a:latin typeface="Segoe UI" pitchFamily="34" charset="0"/>
                <a:ea typeface="Segoe UI" pitchFamily="34" charset="-122"/>
                <a:cs typeface="Segoe UI" pitchFamily="34" charset="-120"/>
              </a:rPr>
              <a:t>• Dispute Resolution Queue (HR Only):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Review points dispute tickets, with approved disputes triggering automatic point reversals in the ledger.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Module 1: Authentication &amp; Profile</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Manages secure user authentication, session tokens, and profile details.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Secure login, logout, JWT token refresh, password changes, and profile information.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Inputs &amp; Outputs: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Inputs: Email, password. Outputs: JWT Access Token, User object, Session cookie.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APIs: /api/auth/login, /api/auth/logout. Tables: User, Employee.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Module 2: Attendance &amp; Desktop Telemetry</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Logs daily attendance and tracks active working hours via desktop activity.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Web and desktop check-in/out, activity log tracking, and early checkout validation.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Validations &amp; Warnings: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Displays warning dialogs when checking out before completing required shift hours + penalties.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APIs: /api/attendance/check-in, /api/attendance/check-out. Tables: Attendance, DesktopActivityLog.</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Module 3: Break Management</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Tracks employee break durations to calculate net worked minutes.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Start/end break actions (Morning Tea, Lunch, Evening Tea, Dinner) with automated duration deductions.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Only one active break is allowed. Lunch breaks are restricted to morning shifts; Dinner breaks to night shifts.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APIs: /api/attendance/break/start, /api/attendance/break/end. Tables: BreakSession.</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Module 4: Overtime Pre-Approval</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Manages overtime requests and ensures pre-approval before shift completion.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Overtime pre-approval requests, manager review panel, and paid overtime tags in history tables.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Pre-approval requests must be submitted before the 5:00 PM IST cutoff on working days.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APIs: /api/attendance/overtime/pre-approve, /api/attendance/overtime/review. Tables: OvertimeSession.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Module 5: Leave Management</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Automates leave requests, entitlement tracking, and team calendar visibility.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Leave applications, balance deduction, manager approvals, and team calendar integrations.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Start date cannot be in the past. Requests cannot exceed the employee's remaining leave balances.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APIs: /api/leaves/apply, /api/leaves/review, /api/leaves/balances. Tables: LeaveRequest, LeaveBalance.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Module 6: Shift Management</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Configures working hours, grace periods, and custom break windows.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Shift creation/editing, bulk shift assignments, and allowed break configurations.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Allowed break timing windows must fall within the shift's start and end times.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APIs: /api/shifts/create, /api/shifts/assign. Tables: Shift, Employee.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Module 7: Payroll &amp; Incentives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Calculates monthly salaries and manages performance bonuses.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Monthly payroll calculations, base salary payouts, and dynamic incentive creation.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Incentive amounts must be positive numbers and mapped to a specific employee and reason.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APIs: /api/payroll/calculate, /api/payroll/incentives/create. Tables: Payroll, Incentive.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SYSTEM MODULES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Module 8: Points &amp; Disputes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Purpose: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Gamifies employee punctuality and manages point correction requests.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Key Features: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Punctuality points, points leaderboard, dispute tickets, and automatic point reversals.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Validations: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Dispute tickets must be raised against a valid attendance record with a detailed reason.
</a:t>
            </a:r>
            <a:pPr indent="0" marL="0">
              <a:lnSpc>
                <a:spcPts val="1600"/>
              </a:lnSpc>
              <a:buNone/>
            </a:pPr>
            <a:r>
              <a:rPr lang="en-US" sz="1150" b="1" dirty="0">
                <a:solidFill>
                  <a:srgbClr val="0056B3"/>
                </a:solidFill>
                <a:latin typeface="Segoe UI" pitchFamily="34" charset="0"/>
                <a:ea typeface="Segoe UI" pitchFamily="34" charset="-122"/>
                <a:cs typeface="Segoe UI" pitchFamily="34" charset="-120"/>
              </a:rPr>
              <a:t>• Core APIs &amp; Tables: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APIs: /api/disputes/create, /api/disputes/resolve. Tables: PointHistory, PointsDisputeTicket.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USER GUIDE</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User Guide: Daily Attendance</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What it is used for: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To log the start and end of your workday.
</a:t>
            </a:r>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Step-by-Step Instructions: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1. Click the green Check In button on your Dashboard at the start of your shift.
  2. Click the red Check Out button at the end of your shift.
  3. Enter a brief summary of your work in the popup dialog and click Submit.
</a:t>
            </a:r>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Helpful Tips &amp; Mistakes to Avoid: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Do not forget to check out at the end of the day. Leaving your session active may result in a late penalty the next day.</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USER GUIDE</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User Guide: Break Management</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What it is used for: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To log your break times (Tea, Lunch, or Dinner) to ensure accurate worked hours.
</a:t>
            </a:r>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Step-by-Step Instructions: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1. Click the blue Start Break button on your Dashboard.
  2. Select the type of break you are taking (e.g. Lunch Break).
  3. When you return, click the green End Break button.
</a:t>
            </a:r>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Helpful Tips &amp; Mistakes to Avoid: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The desktop agent will show a centered reminder popup when it is time for your shift's scheduled breaks. Do not leave your break running, as the system automatically deducts break times.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USER GUIDE</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User Guide: Requesting Leaves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What it is used for: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To request paid time off (Casual, Sick, or Paid Leave).
</a:t>
            </a:r>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Step-by-Step Instructions: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1. Click the Leaves tab in the sidebar menu.
  2. Click the Apply for Leave button.
  3. Select the dates, leave type, enter a reason, and click Submit.
</a:t>
            </a:r>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Helpful Tips &amp; Mistakes to Avoid: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Always check your remaining balances before applying. Requests that exceed your available leave balance will be automatically rejected.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USER GUIDE</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User Guide: Overtime &amp; Point Disputes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Requesting Overtime: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1. Click the Overtime tab and click Request Overtime Pre-Approval.
  2. Enter the date, estimated duration, and reason, then click Submit.
  3. Requests must be submitted before 5:00 PM IST on the day of the shift.
</a:t>
            </a:r>
            <a:pPr indent="0" marL="0">
              <a:lnSpc>
                <a:spcPts val="1500"/>
              </a:lnSpc>
              <a:buNone/>
            </a:pPr>
            <a:r>
              <a:rPr lang="en-US" sz="1100" b="1" dirty="0">
                <a:solidFill>
                  <a:srgbClr val="0056B3"/>
                </a:solidFill>
                <a:latin typeface="Segoe UI" pitchFamily="34" charset="0"/>
                <a:ea typeface="Segoe UI" pitchFamily="34" charset="-122"/>
                <a:cs typeface="Segoe UI" pitchFamily="34" charset="-120"/>
              </a:rPr>
              <a:t>• Disputing Points:
</a:t>
            </a:r>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1. Click on the Leaderboard tab and open your Points History.</a:t>
            </a:r>
            <a:endParaRPr lang="en-US" sz="1100" dirty="0"/>
          </a:p>
          <a:p>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2. Click the Dispute button next to the late penalty record.</a:t>
            </a:r>
            <a:endParaRPr lang="en-US" sz="1100" dirty="0"/>
          </a:p>
          <a:p>
            <a:pPr indent="0" marL="0">
              <a:lnSpc>
                <a:spcPts val="1500"/>
              </a:lnSpc>
              <a:buNone/>
            </a:pPr>
            <a:r>
              <a:rPr lang="en-US" sz="1100" dirty="0">
                <a:solidFill>
                  <a:srgbClr val="111111"/>
                </a:solidFill>
                <a:latin typeface="Segoe UI" pitchFamily="34" charset="0"/>
                <a:ea typeface="Segoe UI" pitchFamily="34" charset="-122"/>
                <a:cs typeface="Segoe UI" pitchFamily="34" charset="-120"/>
              </a:rPr>
              <a:t>  3. Enter your explanation and submit the ticket. HR will review and resolve it.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SECURITY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Security: Authentication &amp; Sessions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0056B3"/>
                </a:solidFill>
                <a:latin typeface="Segoe UI" pitchFamily="34" charset="0"/>
                <a:ea typeface="Segoe UI" pitchFamily="34" charset="-122"/>
                <a:cs typeface="Segoe UI" pitchFamily="34" charset="-120"/>
              </a:rPr>
              <a:t>JWT SESSION MANAGEMENT</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The application implements a stateless session model using JSON Web Tokens (JWT). A short-lived Access Token is stored in memory to authorize API requests, while a long-lived Refresh Token is stored in a secure cookie.</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5A189A"/>
                </a:solidFill>
                <a:latin typeface="Segoe UI" pitchFamily="34" charset="0"/>
                <a:ea typeface="Segoe UI" pitchFamily="34" charset="-122"/>
                <a:cs typeface="Segoe UI" pitchFamily="34" charset="-120"/>
              </a:rPr>
              <a:t>COOKIE SECURITY POLICIES</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HttpOnly: Prevents client-side scripts from accessing session cookies, mitigating XSS attacks.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Secure Flag: Enforces cookie transmission exclusively over encrypted HTTPS connections.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SameSite=Strict: Blocks cookies from being sent in cross-site requests, protecting against CSRF.</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SECURITY</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Security: Authorization &amp; Validations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274320"/>
          </a:xfrm>
          <a:prstGeom prst="rect">
            <a:avLst/>
          </a:prstGeom>
          <a:noFill/>
          <a:ln/>
        </p:spPr>
        <p:txBody>
          <a:bodyPr wrap="square" rtlCol="0" anchor="ctr"/>
          <a:lstStyle/>
          <a:p>
            <a:pPr indent="0" marL="0">
              <a:buNone/>
            </a:pPr>
            <a:r>
              <a:rPr lang="en-US" sz="1400" b="1" dirty="0">
                <a:solidFill>
                  <a:srgbClr val="1E7E34"/>
                </a:solidFill>
                <a:latin typeface="Segoe UI" pitchFamily="34" charset="0"/>
                <a:ea typeface="Segoe UI" pitchFamily="34" charset="-122"/>
                <a:cs typeface="Segoe UI" pitchFamily="34" charset="-120"/>
              </a:rPr>
              <a:t>INPUT SCHEMA VALIDATION (ZOD)</a:t>
            </a:r>
            <a:endParaRPr lang="en-US" sz="1400" dirty="0"/>
          </a:p>
        </p:txBody>
      </p:sp>
      <p:sp>
        <p:nvSpPr>
          <p:cNvPr id="7" name="Text 5"/>
          <p:cNvSpPr/>
          <p:nvPr/>
        </p:nvSpPr>
        <p:spPr>
          <a:xfrm>
            <a:off x="822960" y="2103120"/>
            <a:ext cx="7680960" cy="914400"/>
          </a:xfrm>
          <a:prstGeom prst="rect">
            <a:avLst/>
          </a:prstGeom>
          <a:noFill/>
          <a:ln/>
        </p:spPr>
        <p:txBody>
          <a:bodyPr wrap="square" rtlCol="0" anchor="ctr"/>
          <a:lstStyle/>
          <a:p>
            <a:pPr indent="0" marL="0">
              <a:lnSpc>
                <a:spcPts val="1800"/>
              </a:lnSpc>
              <a:buNone/>
            </a:pPr>
            <a:r>
              <a:rPr lang="en-US" sz="1200" dirty="0">
                <a:solidFill>
                  <a:srgbClr val="111111"/>
                </a:solidFill>
                <a:latin typeface="Segoe UI" pitchFamily="34" charset="0"/>
                <a:ea typeface="Segoe UI" pitchFamily="34" charset="-122"/>
                <a:cs typeface="Segoe UI" pitchFamily="34" charset="-120"/>
              </a:rPr>
              <a:t>All incoming API requests are validated against strict Zod schemas before hitting the database. This prevents malformed data entry, parameter pollution, and potential SQL injection vulnerabilities.</a:t>
            </a:r>
            <a:endParaRPr lang="en-US" sz="1200" dirty="0"/>
          </a:p>
        </p:txBody>
      </p:sp>
      <p:sp>
        <p:nvSpPr>
          <p:cNvPr id="8" name="Text 6"/>
          <p:cNvSpPr/>
          <p:nvPr/>
        </p:nvSpPr>
        <p:spPr>
          <a:xfrm>
            <a:off x="822960" y="3200400"/>
            <a:ext cx="7680960" cy="274320"/>
          </a:xfrm>
          <a:prstGeom prst="rect">
            <a:avLst/>
          </a:prstGeom>
          <a:noFill/>
          <a:ln/>
        </p:spPr>
        <p:txBody>
          <a:bodyPr wrap="square" rtlCol="0" anchor="ctr"/>
          <a:lstStyle/>
          <a:p>
            <a:pPr indent="0" marL="0">
              <a:buNone/>
            </a:pPr>
            <a:r>
              <a:rPr lang="en-US" sz="1400" b="1" dirty="0">
                <a:solidFill>
                  <a:srgbClr val="0056B3"/>
                </a:solidFill>
                <a:latin typeface="Segoe UI" pitchFamily="34" charset="0"/>
                <a:ea typeface="Segoe UI" pitchFamily="34" charset="-122"/>
                <a:cs typeface="Segoe UI" pitchFamily="34" charset="-120"/>
              </a:rPr>
              <a:t>ROLE-BASED ACCESS CONTROL (RBAC)</a:t>
            </a:r>
            <a:endParaRPr lang="en-US" sz="1400" dirty="0"/>
          </a:p>
        </p:txBody>
      </p:sp>
      <p:sp>
        <p:nvSpPr>
          <p:cNvPr id="9" name="Text 7"/>
          <p:cNvSpPr/>
          <p:nvPr/>
        </p:nvSpPr>
        <p:spPr>
          <a:xfrm>
            <a:off x="822960" y="3566160"/>
            <a:ext cx="7680960" cy="1828800"/>
          </a:xfrm>
          <a:prstGeom prst="rect">
            <a:avLst/>
          </a:prstGeom>
          <a:noFill/>
          <a:ln/>
        </p:spPr>
        <p:txBody>
          <a:bodyPr wrap="square" rtlCol="0" anchor="ctr"/>
          <a:lstStyle/>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Route Guards: Frontend views are protected using React Router guards.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API Middleware: Backend routes use role-checking middleware (requireRoles) to block unauthorized access.</a:t>
            </a:r>
            <a:endParaRPr lang="en-US" sz="1200" dirty="0"/>
          </a:p>
          <a:p>
            <a:pPr indent="0" marL="0">
              <a:lnSpc>
                <a:spcPts val="2000"/>
              </a:lnSpc>
              <a:buNone/>
            </a:pPr>
            <a:r>
              <a:rPr lang="en-US" sz="1200" dirty="0">
                <a:solidFill>
                  <a:srgbClr val="111111"/>
                </a:solidFill>
                <a:latin typeface="Segoe UI" pitchFamily="34" charset="0"/>
                <a:ea typeface="Segoe UI" pitchFamily="34" charset="-122"/>
                <a:cs typeface="Segoe UI" pitchFamily="34" charset="-120"/>
              </a:rPr>
              <a:t>• Password Hashing: Employee passwords are encrypted using bcryptjs before being saved to the database.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274320"/>
          </a:xfrm>
          <a:prstGeom prst="rect">
            <a:avLst/>
          </a:prstGeom>
          <a:noFill/>
          <a:ln/>
        </p:spPr>
        <p:txBody>
          <a:bodyPr wrap="square" rtlCol="0" anchor="ctr"/>
          <a:lstStyle/>
          <a:p>
            <a:pPr indent="0" marL="0">
              <a:buNone/>
            </a:pPr>
            <a:r>
              <a:rPr lang="en-US" sz="1000" b="1" dirty="0">
                <a:solidFill>
                  <a:srgbClr val="0056B3"/>
                </a:solidFill>
                <a:latin typeface="Segoe UI" pitchFamily="34" charset="0"/>
                <a:ea typeface="Segoe UI" pitchFamily="34" charset="-122"/>
                <a:cs typeface="Segoe UI" pitchFamily="34" charset="-120"/>
              </a:rPr>
              <a:t>HIGHLIGHTS</a:t>
            </a:r>
            <a:endParaRPr lang="en-US" sz="1000" dirty="0"/>
          </a:p>
        </p:txBody>
      </p:sp>
      <p:sp>
        <p:nvSpPr>
          <p:cNvPr id="3" name="Text 1"/>
          <p:cNvSpPr/>
          <p:nvPr/>
        </p:nvSpPr>
        <p:spPr>
          <a:xfrm>
            <a:off x="548640" y="640080"/>
            <a:ext cx="8229600" cy="457200"/>
          </a:xfrm>
          <a:prstGeom prst="rect">
            <a:avLst/>
          </a:prstGeom>
          <a:noFill/>
          <a:ln/>
        </p:spPr>
        <p:txBody>
          <a:bodyPr wrap="square" rtlCol="0" anchor="ctr"/>
          <a:lstStyle/>
          <a:p>
            <a:pPr indent="0" marL="0">
              <a:buNone/>
            </a:pPr>
            <a:r>
              <a:rPr lang="en-US" sz="2200" b="1" dirty="0">
                <a:solidFill>
                  <a:srgbClr val="111111"/>
                </a:solidFill>
                <a:latin typeface="Segoe UI" pitchFamily="34" charset="0"/>
                <a:ea typeface="Segoe UI" pitchFamily="34" charset="-122"/>
                <a:cs typeface="Segoe UI" pitchFamily="34" charset="-120"/>
              </a:rPr>
              <a:t>Project Technical Highlights</a:t>
            </a:r>
            <a:endParaRPr lang="en-US" sz="2200" dirty="0"/>
          </a:p>
        </p:txBody>
      </p:sp>
      <p:sp>
        <p:nvSpPr>
          <p:cNvPr id="4" name="Shape 2"/>
          <p:cNvSpPr/>
          <p:nvPr/>
        </p:nvSpPr>
        <p:spPr>
          <a:xfrm>
            <a:off x="548640" y="1188720"/>
            <a:ext cx="8229600" cy="18288"/>
          </a:xfrm>
          <a:prstGeom prst="rect">
            <a:avLst/>
          </a:prstGeom>
          <a:solidFill>
            <a:srgbClr val="D1D1D6"/>
          </a:solidFill>
          <a:ln/>
        </p:spPr>
      </p:sp>
      <p:sp>
        <p:nvSpPr>
          <p:cNvPr id="5" name="Shape 3"/>
          <p:cNvSpPr/>
          <p:nvPr/>
        </p:nvSpPr>
        <p:spPr>
          <a:xfrm>
            <a:off x="548640" y="1463040"/>
            <a:ext cx="8229600" cy="4389120"/>
          </a:xfrm>
          <a:prstGeom prst="rect">
            <a:avLst/>
          </a:prstGeom>
          <a:solidFill>
            <a:srgbClr val="F2F2F7"/>
          </a:solidFill>
          <a:ln w="12700">
            <a:solidFill>
              <a:srgbClr val="D1D1D6"/>
            </a:solidFill>
            <a:prstDash val="solid"/>
          </a:ln>
        </p:spPr>
      </p:sp>
      <p:sp>
        <p:nvSpPr>
          <p:cNvPr id="6" name="Text 4"/>
          <p:cNvSpPr/>
          <p:nvPr/>
        </p:nvSpPr>
        <p:spPr>
          <a:xfrm>
            <a:off x="822960" y="1737360"/>
            <a:ext cx="7680960" cy="3840480"/>
          </a:xfrm>
          <a:prstGeom prst="rect">
            <a:avLst/>
          </a:prstGeom>
          <a:noFill/>
          <a:ln/>
        </p:spPr>
        <p:txBody>
          <a:bodyPr wrap="square" rtlCol="0" anchor="ctr"/>
          <a:lstStyle/>
          <a:p>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Real-Time OS Telemetry: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A native C# tray client bridges Windows power state events directly with the web Workday Timeline.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Flexible Shift Engine: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Enforces custom grace periods, late-arrival point deductions, and dynamically configured break windows.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Gamified Punctuality: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Promotes workplace compliance through a live leaderboard and points-based dispute resolution queue.
</a:t>
            </a:r>
            <a:pPr indent="0" marL="0">
              <a:lnSpc>
                <a:spcPts val="1600"/>
              </a:lnSpc>
              <a:buNone/>
            </a:pPr>
            <a:r>
              <a:rPr lang="en-US" sz="1300" b="1" dirty="0">
                <a:solidFill>
                  <a:srgbClr val="0056B3"/>
                </a:solidFill>
                <a:latin typeface="Segoe UI" pitchFamily="34" charset="0"/>
                <a:ea typeface="Segoe UI" pitchFamily="34" charset="-122"/>
                <a:cs typeface="Segoe UI" pitchFamily="34" charset="-120"/>
              </a:rPr>
              <a:t>• Fully Responsive Design:
</a:t>
            </a:r>
            <a:pPr indent="0" marL="0">
              <a:lnSpc>
                <a:spcPts val="1600"/>
              </a:lnSpc>
              <a:buNone/>
            </a:pPr>
            <a:r>
              <a:rPr lang="en-US" sz="1150" dirty="0">
                <a:solidFill>
                  <a:srgbClr val="111111"/>
                </a:solidFill>
                <a:latin typeface="Segoe UI" pitchFamily="34" charset="0"/>
                <a:ea typeface="Segoe UI" pitchFamily="34" charset="-122"/>
                <a:cs typeface="Segoe UI" pitchFamily="34" charset="-120"/>
              </a:rPr>
              <a:t>  Responsive light theme designed using Tailwind CSS, optimized for mobile, tablet, and desktop screens.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1371600"/>
            <a:ext cx="10332720" cy="3291840"/>
          </a:xfrm>
          <a:prstGeom prst="rect">
            <a:avLst/>
          </a:prstGeom>
          <a:solidFill>
            <a:srgbClr val="F2F2F7"/>
          </a:solidFill>
          <a:ln w="12700">
            <a:solidFill>
              <a:srgbClr val="D1D1D6"/>
            </a:solidFill>
            <a:prstDash val="solid"/>
          </a:ln>
        </p:spPr>
      </p:sp>
      <p:sp>
        <p:nvSpPr>
          <p:cNvPr id="3" name="Shape 1"/>
          <p:cNvSpPr/>
          <p:nvPr/>
        </p:nvSpPr>
        <p:spPr>
          <a:xfrm>
            <a:off x="914400" y="1371600"/>
            <a:ext cx="10332720" cy="91440"/>
          </a:xfrm>
          <a:prstGeom prst="rect">
            <a:avLst/>
          </a:prstGeom>
          <a:solidFill>
            <a:srgbClr val="0056B3"/>
          </a:solidFill>
          <a:ln/>
        </p:spPr>
      </p:sp>
      <p:sp>
        <p:nvSpPr>
          <p:cNvPr id="4" name="Text 2"/>
          <p:cNvSpPr/>
          <p:nvPr/>
        </p:nvSpPr>
        <p:spPr>
          <a:xfrm>
            <a:off x="1371600" y="1737360"/>
            <a:ext cx="9418320" cy="365760"/>
          </a:xfrm>
          <a:prstGeom prst="rect">
            <a:avLst/>
          </a:prstGeom>
          <a:noFill/>
          <a:ln/>
        </p:spPr>
        <p:txBody>
          <a:bodyPr wrap="square" rtlCol="0" anchor="ctr"/>
          <a:lstStyle/>
          <a:p>
            <a:pPr indent="0" marL="0">
              <a:buNone/>
            </a:pPr>
            <a:r>
              <a:rPr lang="en-US" sz="1800" b="1" dirty="0">
                <a:solidFill>
                  <a:srgbClr val="0056B3"/>
                </a:solidFill>
                <a:latin typeface="Segoe UI" pitchFamily="34" charset="0"/>
                <a:ea typeface="Segoe UI" pitchFamily="34" charset="-122"/>
                <a:cs typeface="Segoe UI" pitchFamily="34" charset="-120"/>
              </a:rPr>
              <a:t>CONCLUSION &amp; SUMMARY</a:t>
            </a:r>
            <a:endParaRPr lang="en-US" sz="1800" dirty="0"/>
          </a:p>
        </p:txBody>
      </p:sp>
      <p:sp>
        <p:nvSpPr>
          <p:cNvPr id="5" name="Text 3"/>
          <p:cNvSpPr/>
          <p:nvPr/>
        </p:nvSpPr>
        <p:spPr>
          <a:xfrm>
            <a:off x="1371600" y="2286000"/>
            <a:ext cx="9418320" cy="1828800"/>
          </a:xfrm>
          <a:prstGeom prst="rect">
            <a:avLst/>
          </a:prstGeom>
          <a:noFill/>
          <a:ln/>
        </p:spPr>
        <p:txBody>
          <a:bodyPr wrap="square" rtlCol="0" anchor="ctr"/>
          <a:lstStyle/>
          <a:p>
            <a:pPr indent="0" marL="0">
              <a:lnSpc>
                <a:spcPts val="2400"/>
              </a:lnSpc>
              <a:buNone/>
            </a:pPr>
            <a:r>
              <a:rPr lang="en-US" sz="1350" dirty="0">
                <a:solidFill>
                  <a:srgbClr val="111111"/>
                </a:solidFill>
                <a:latin typeface="Segoe UI" pitchFamily="34" charset="0"/>
                <a:ea typeface="Segoe UI" pitchFamily="34" charset="-122"/>
                <a:cs typeface="Segoe UI" pitchFamily="34" charset="-120"/>
              </a:rPr>
              <a:t>The HRMS successfully automates time tracking and compliance through real-time desktop telemetry and dynamic shift configurations. By replacing manual workflows with role-based self-service modules and a transparent gamification engine, the system delivers high business value, reduces payroll errors, and enhances overall organizational efficiency.</a:t>
            </a:r>
            <a:endParaRPr lang="en-US" sz="1350" dirty="0"/>
          </a:p>
        </p:txBody>
      </p:sp>
      <p:sp>
        <p:nvSpPr>
          <p:cNvPr id="6" name="Text 4"/>
          <p:cNvSpPr/>
          <p:nvPr/>
        </p:nvSpPr>
        <p:spPr>
          <a:xfrm>
            <a:off x="914400" y="5029200"/>
            <a:ext cx="10332720" cy="365760"/>
          </a:xfrm>
          <a:prstGeom prst="rect">
            <a:avLst/>
          </a:prstGeom>
          <a:noFill/>
          <a:ln/>
        </p:spPr>
        <p:txBody>
          <a:bodyPr wrap="square" rtlCol="0" anchor="ctr"/>
          <a:lstStyle/>
          <a:p>
            <a:pPr indent="0" marL="0">
              <a:buNone/>
            </a:pPr>
            <a:r>
              <a:rPr lang="en-US" sz="1100" i="1" dirty="0">
                <a:solidFill>
                  <a:srgbClr val="555555"/>
                </a:solidFill>
                <a:latin typeface="Segoe UI" pitchFamily="34" charset="0"/>
                <a:ea typeface="Segoe UI" pitchFamily="34" charset="-122"/>
                <a:cs typeface="Segoe UI" pitchFamily="34" charset="-120"/>
              </a:rPr>
              <a:t>End of Presentation  •  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2026-06-30T12:39:17Z</dcterms:created>
  <dcterms:modified xsi:type="dcterms:W3CDTF">2026-06-30T12:39:17Z</dcterms:modified>
</cp:coreProperties>
</file>